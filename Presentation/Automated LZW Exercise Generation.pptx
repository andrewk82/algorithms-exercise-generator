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74" r:id="rId2"/>
    <p:sldId id="272" r:id="rId3"/>
    <p:sldId id="278" r:id="rId4"/>
    <p:sldId id="279" r:id="rId5"/>
    <p:sldId id="288" r:id="rId6"/>
    <p:sldId id="282" r:id="rId7"/>
    <p:sldId id="286" r:id="rId8"/>
    <p:sldId id="289" r:id="rId9"/>
    <p:sldId id="287"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7DC0B4-2A5A-4822-B8B0-E293B987B095}" v="15" dt="2026-03-20T09:42:30.8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7024" autoAdjust="0"/>
  </p:normalViewPr>
  <p:slideViewPr>
    <p:cSldViewPr snapToGrid="0">
      <p:cViewPr varScale="1">
        <p:scale>
          <a:sx n="63" d="100"/>
          <a:sy n="63" d="100"/>
        </p:scale>
        <p:origin x="14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King" userId="38b54cd833e65a86" providerId="LiveId" clId="{90958947-24C7-48A9-B21F-B11FDE9229E5}"/>
    <pc:docChg chg="undo custSel modSld sldOrd">
      <pc:chgData name="Andrew King" userId="38b54cd833e65a86" providerId="LiveId" clId="{90958947-24C7-48A9-B21F-B11FDE9229E5}" dt="2026-03-20T14:48:20.987" v="3438" actId="20577"/>
      <pc:docMkLst>
        <pc:docMk/>
      </pc:docMkLst>
      <pc:sldChg chg="modSp mod modNotesTx">
        <pc:chgData name="Andrew King" userId="38b54cd833e65a86" providerId="LiveId" clId="{90958947-24C7-48A9-B21F-B11FDE9229E5}" dt="2026-03-20T14:48:10.038" v="3436" actId="20577"/>
        <pc:sldMkLst>
          <pc:docMk/>
          <pc:sldMk cId="3182649775" sldId="272"/>
        </pc:sldMkLst>
        <pc:spChg chg="mod">
          <ac:chgData name="Andrew King" userId="38b54cd833e65a86" providerId="LiveId" clId="{90958947-24C7-48A9-B21F-B11FDE9229E5}" dt="2026-03-19T22:32:54.289" v="1405" actId="20577"/>
          <ac:spMkLst>
            <pc:docMk/>
            <pc:sldMk cId="3182649775" sldId="272"/>
            <ac:spMk id="3" creationId="{67EEE2DF-D9FD-8014-466B-0BB8AAAFFB89}"/>
          </ac:spMkLst>
        </pc:spChg>
      </pc:sldChg>
      <pc:sldChg chg="modSp mod modNotesTx">
        <pc:chgData name="Andrew King" userId="38b54cd833e65a86" providerId="LiveId" clId="{90958947-24C7-48A9-B21F-B11FDE9229E5}" dt="2026-03-19T22:32:05.417" v="1344" actId="20577"/>
        <pc:sldMkLst>
          <pc:docMk/>
          <pc:sldMk cId="2464047623" sldId="274"/>
        </pc:sldMkLst>
        <pc:spChg chg="mod">
          <ac:chgData name="Andrew King" userId="38b54cd833e65a86" providerId="LiveId" clId="{90958947-24C7-48A9-B21F-B11FDE9229E5}" dt="2026-03-19T22:32:05.417" v="1344" actId="20577"/>
          <ac:spMkLst>
            <pc:docMk/>
            <pc:sldMk cId="2464047623" sldId="274"/>
            <ac:spMk id="11" creationId="{20E61EF6-AA6E-1B23-1651-4DC3BDCFA56D}"/>
          </ac:spMkLst>
        </pc:spChg>
      </pc:sldChg>
      <pc:sldChg chg="modSp mod modNotesTx">
        <pc:chgData name="Andrew King" userId="38b54cd833e65a86" providerId="LiveId" clId="{90958947-24C7-48A9-B21F-B11FDE9229E5}" dt="2026-03-19T22:33:21.865" v="1420" actId="20577"/>
        <pc:sldMkLst>
          <pc:docMk/>
          <pc:sldMk cId="803644082" sldId="278"/>
        </pc:sldMkLst>
        <pc:spChg chg="mod">
          <ac:chgData name="Andrew King" userId="38b54cd833e65a86" providerId="LiveId" clId="{90958947-24C7-48A9-B21F-B11FDE9229E5}" dt="2026-03-19T22:33:21.865" v="1420" actId="20577"/>
          <ac:spMkLst>
            <pc:docMk/>
            <pc:sldMk cId="803644082" sldId="278"/>
            <ac:spMk id="9" creationId="{F8602ABE-21A2-9AAF-2A50-D96BFEA8ACBA}"/>
          </ac:spMkLst>
        </pc:spChg>
      </pc:sldChg>
      <pc:sldChg chg="modSp mod modNotesTx">
        <pc:chgData name="Andrew King" userId="38b54cd833e65a86" providerId="LiveId" clId="{90958947-24C7-48A9-B21F-B11FDE9229E5}" dt="2026-03-20T14:45:39.278" v="3402" actId="20577"/>
        <pc:sldMkLst>
          <pc:docMk/>
          <pc:sldMk cId="3191684917" sldId="279"/>
        </pc:sldMkLst>
        <pc:spChg chg="mod">
          <ac:chgData name="Andrew King" userId="38b54cd833e65a86" providerId="LiveId" clId="{90958947-24C7-48A9-B21F-B11FDE9229E5}" dt="2026-03-19T22:34:15.152" v="1435" actId="20577"/>
          <ac:spMkLst>
            <pc:docMk/>
            <pc:sldMk cId="3191684917" sldId="279"/>
            <ac:spMk id="2" creationId="{FE463E0D-1F2B-5E06-C43C-9749F8F71FB4}"/>
          </ac:spMkLst>
        </pc:spChg>
        <pc:spChg chg="mod">
          <ac:chgData name="Andrew King" userId="38b54cd833e65a86" providerId="LiveId" clId="{90958947-24C7-48A9-B21F-B11FDE9229E5}" dt="2026-03-19T22:37:00.370" v="1470" actId="5793"/>
          <ac:spMkLst>
            <pc:docMk/>
            <pc:sldMk cId="3191684917" sldId="279"/>
            <ac:spMk id="3" creationId="{DDF07771-DB04-6D3A-EF21-8073C1443989}"/>
          </ac:spMkLst>
        </pc:spChg>
      </pc:sldChg>
      <pc:sldChg chg="modSp mod modNotesTx">
        <pc:chgData name="Andrew King" userId="38b54cd833e65a86" providerId="LiveId" clId="{90958947-24C7-48A9-B21F-B11FDE9229E5}" dt="2026-03-19T22:38:35.987" v="1653" actId="27636"/>
        <pc:sldMkLst>
          <pc:docMk/>
          <pc:sldMk cId="2393972008" sldId="282"/>
        </pc:sldMkLst>
        <pc:spChg chg="mod">
          <ac:chgData name="Andrew King" userId="38b54cd833e65a86" providerId="LiveId" clId="{90958947-24C7-48A9-B21F-B11FDE9229E5}" dt="2026-03-19T22:38:35.987" v="1653" actId="27636"/>
          <ac:spMkLst>
            <pc:docMk/>
            <pc:sldMk cId="2393972008" sldId="282"/>
            <ac:spMk id="9" creationId="{2716FE55-6D17-F1FE-4F12-61E48F47D476}"/>
          </ac:spMkLst>
        </pc:spChg>
      </pc:sldChg>
      <pc:sldChg chg="addSp delSp modSp mod modNotesTx">
        <pc:chgData name="Andrew King" userId="38b54cd833e65a86" providerId="LiveId" clId="{90958947-24C7-48A9-B21F-B11FDE9229E5}" dt="2026-03-20T11:01:27.674" v="3096" actId="20577"/>
        <pc:sldMkLst>
          <pc:docMk/>
          <pc:sldMk cId="759978619" sldId="286"/>
        </pc:sldMkLst>
        <pc:spChg chg="mod">
          <ac:chgData name="Andrew King" userId="38b54cd833e65a86" providerId="LiveId" clId="{90958947-24C7-48A9-B21F-B11FDE9229E5}" dt="2026-03-19T22:06:59.573" v="445" actId="20577"/>
          <ac:spMkLst>
            <pc:docMk/>
            <pc:sldMk cId="759978619" sldId="286"/>
            <ac:spMk id="8" creationId="{F5A3A226-46AD-37D8-1A10-D96565003377}"/>
          </ac:spMkLst>
        </pc:spChg>
        <pc:picChg chg="add mod">
          <ac:chgData name="Andrew King" userId="38b54cd833e65a86" providerId="LiveId" clId="{90958947-24C7-48A9-B21F-B11FDE9229E5}" dt="2026-03-20T09:37:41.839" v="2729" actId="1076"/>
          <ac:picMkLst>
            <pc:docMk/>
            <pc:sldMk cId="759978619" sldId="286"/>
            <ac:picMk id="3" creationId="{7A35210A-B62B-7436-85AD-BEF050F2C7AB}"/>
          </ac:picMkLst>
        </pc:picChg>
        <pc:picChg chg="del">
          <ac:chgData name="Andrew King" userId="38b54cd833e65a86" providerId="LiveId" clId="{90958947-24C7-48A9-B21F-B11FDE9229E5}" dt="2026-03-20T09:37:36.973" v="2728" actId="478"/>
          <ac:picMkLst>
            <pc:docMk/>
            <pc:sldMk cId="759978619" sldId="286"/>
            <ac:picMk id="15362" creationId="{2CD2D1AF-0B74-5C5A-67D5-C5953DCD4048}"/>
          </ac:picMkLst>
        </pc:picChg>
        <pc:picChg chg="mod">
          <ac:chgData name="Andrew King" userId="38b54cd833e65a86" providerId="LiveId" clId="{90958947-24C7-48A9-B21F-B11FDE9229E5}" dt="2026-03-20T09:37:45.314" v="2731" actId="1076"/>
          <ac:picMkLst>
            <pc:docMk/>
            <pc:sldMk cId="759978619" sldId="286"/>
            <ac:picMk id="15364" creationId="{84AA8A45-5628-D2EF-DA1A-BD778F0904F4}"/>
          </ac:picMkLst>
        </pc:picChg>
      </pc:sldChg>
      <pc:sldChg chg="modSp mod modNotesTx">
        <pc:chgData name="Andrew King" userId="38b54cd833e65a86" providerId="LiveId" clId="{90958947-24C7-48A9-B21F-B11FDE9229E5}" dt="2026-03-20T11:05:02.183" v="3131" actId="20577"/>
        <pc:sldMkLst>
          <pc:docMk/>
          <pc:sldMk cId="1894525016" sldId="287"/>
        </pc:sldMkLst>
        <pc:spChg chg="mod">
          <ac:chgData name="Andrew King" userId="38b54cd833e65a86" providerId="LiveId" clId="{90958947-24C7-48A9-B21F-B11FDE9229E5}" dt="2026-03-19T22:51:42.671" v="2605" actId="20577"/>
          <ac:spMkLst>
            <pc:docMk/>
            <pc:sldMk cId="1894525016" sldId="287"/>
            <ac:spMk id="8" creationId="{3C9E841A-F2DB-23F2-DE61-12FCDAE6AF28}"/>
          </ac:spMkLst>
        </pc:spChg>
        <pc:spChg chg="mod">
          <ac:chgData name="Andrew King" userId="38b54cd833e65a86" providerId="LiveId" clId="{90958947-24C7-48A9-B21F-B11FDE9229E5}" dt="2026-03-19T22:52:56.705" v="2698" actId="20577"/>
          <ac:spMkLst>
            <pc:docMk/>
            <pc:sldMk cId="1894525016" sldId="287"/>
            <ac:spMk id="9" creationId="{ADD9E211-EADA-8B82-3CBE-B784CE927126}"/>
          </ac:spMkLst>
        </pc:spChg>
      </pc:sldChg>
      <pc:sldChg chg="addSp delSp modSp mod ord modNotesTx">
        <pc:chgData name="Andrew King" userId="38b54cd833e65a86" providerId="LiveId" clId="{90958947-24C7-48A9-B21F-B11FDE9229E5}" dt="2026-03-20T14:48:20.987" v="3438" actId="20577"/>
        <pc:sldMkLst>
          <pc:docMk/>
          <pc:sldMk cId="1198198974" sldId="288"/>
        </pc:sldMkLst>
        <pc:picChg chg="add mod">
          <ac:chgData name="Andrew King" userId="38b54cd833e65a86" providerId="LiveId" clId="{90958947-24C7-48A9-B21F-B11FDE9229E5}" dt="2026-03-20T09:57:01.078" v="3002" actId="1076"/>
          <ac:picMkLst>
            <pc:docMk/>
            <pc:sldMk cId="1198198974" sldId="288"/>
            <ac:picMk id="3" creationId="{C90BFC1C-04DF-012B-6A17-B395917B3425}"/>
          </ac:picMkLst>
        </pc:picChg>
        <pc:picChg chg="del">
          <ac:chgData name="Andrew King" userId="38b54cd833e65a86" providerId="LiveId" clId="{90958947-24C7-48A9-B21F-B11FDE9229E5}" dt="2026-03-20T09:56:53.493" v="2999" actId="478"/>
          <ac:picMkLst>
            <pc:docMk/>
            <pc:sldMk cId="1198198974" sldId="288"/>
            <ac:picMk id="4" creationId="{E602A078-DBDF-0DD6-3102-21068D0D867F}"/>
          </ac:picMkLst>
        </pc:picChg>
      </pc:sldChg>
      <pc:sldChg chg="addSp modSp mod modNotesTx">
        <pc:chgData name="Andrew King" userId="38b54cd833e65a86" providerId="LiveId" clId="{90958947-24C7-48A9-B21F-B11FDE9229E5}" dt="2026-03-20T11:05:59.848" v="3363" actId="20577"/>
        <pc:sldMkLst>
          <pc:docMk/>
          <pc:sldMk cId="1805860634" sldId="289"/>
        </pc:sldMkLst>
        <pc:spChg chg="add mod">
          <ac:chgData name="Andrew King" userId="38b54cd833e65a86" providerId="LiveId" clId="{90958947-24C7-48A9-B21F-B11FDE9229E5}" dt="2026-03-19T22:54:24.542" v="2701" actId="1076"/>
          <ac:spMkLst>
            <pc:docMk/>
            <pc:sldMk cId="1805860634" sldId="289"/>
            <ac:spMk id="5" creationId="{9A918219-EA1C-7FCF-AB5D-9721223700F7}"/>
          </ac:spMkLst>
        </pc:spChg>
        <pc:spChg chg="mod">
          <ac:chgData name="Andrew King" userId="38b54cd833e65a86" providerId="LiveId" clId="{90958947-24C7-48A9-B21F-B11FDE9229E5}" dt="2026-03-19T22:54:32.415" v="2723" actId="20577"/>
          <ac:spMkLst>
            <pc:docMk/>
            <pc:sldMk cId="1805860634" sldId="289"/>
            <ac:spMk id="8" creationId="{3F27F04E-24A7-1163-506C-DD1603542FB5}"/>
          </ac:spMkLst>
        </pc:spChg>
        <pc:picChg chg="mod">
          <ac:chgData name="Andrew King" userId="38b54cd833e65a86" providerId="LiveId" clId="{90958947-24C7-48A9-B21F-B11FDE9229E5}" dt="2026-03-19T22:50:26.584" v="2562" actId="1076"/>
          <ac:picMkLst>
            <pc:docMk/>
            <pc:sldMk cId="1805860634" sldId="289"/>
            <ac:picMk id="3" creationId="{345313C5-D7A2-B98E-AD35-99E7CBA1B93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F55322-BE45-4211-B0D1-D125E5C54DDE}" type="datetimeFigureOut">
              <a:rPr lang="en-GB" smtClean="0"/>
              <a:t>20/03/2026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93ACF7-D80B-44A8-8C16-C266CCE3E194}" type="slidenum">
              <a:rPr lang="en-GB" smtClean="0"/>
              <a:t>‹#›</a:t>
            </a:fld>
            <a:endParaRPr lang="en-GB"/>
          </a:p>
        </p:txBody>
      </p:sp>
    </p:spTree>
    <p:extLst>
      <p:ext uri="{BB962C8B-B14F-4D97-AF65-F5344CB8AC3E}">
        <p14:creationId xmlns:p14="http://schemas.microsoft.com/office/powerpoint/2010/main" val="140517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D3775-9116-97D9-DE32-9BD4390023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52547-2574-188F-C244-E0B30776F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0CC7C-51A5-AE63-A9DA-BC81E0EDCDB6}"/>
              </a:ext>
            </a:extLst>
          </p:cNvPr>
          <p:cNvSpPr>
            <a:spLocks noGrp="1"/>
          </p:cNvSpPr>
          <p:nvPr>
            <p:ph type="body" idx="1"/>
          </p:nvPr>
        </p:nvSpPr>
        <p:spPr/>
        <p:txBody>
          <a:bodyPr/>
          <a:lstStyle/>
          <a:p>
            <a:r>
              <a:rPr lang="en-GB" dirty="0"/>
              <a:t>I’m looking for something to generate fair, unique exam questions for an algorithms course</a:t>
            </a:r>
          </a:p>
        </p:txBody>
      </p:sp>
      <p:sp>
        <p:nvSpPr>
          <p:cNvPr id="4" name="Slide Number Placeholder 3">
            <a:extLst>
              <a:ext uri="{FF2B5EF4-FFF2-40B4-BE49-F238E27FC236}">
                <a16:creationId xmlns:a16="http://schemas.microsoft.com/office/drawing/2014/main" id="{A4C454BB-0B95-B623-D824-650EC82CEA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28588B-BD9A-4251-A19C-E5A25975C99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86801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problem this dissertation seeks to address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28588B-BD9A-4251-A19C-E5A25975C99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22932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C06BA-D00A-3E52-CBD7-FDE312333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394D0-6D43-CC3C-0EBC-9CC43A807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0F8488-1CFF-F5AF-0077-226CA6F1C42C}"/>
              </a:ext>
            </a:extLst>
          </p:cNvPr>
          <p:cNvSpPr>
            <a:spLocks noGrp="1"/>
          </p:cNvSpPr>
          <p:nvPr>
            <p:ph type="body" idx="1"/>
          </p:nvPr>
        </p:nvSpPr>
        <p:spPr/>
        <p:txBody>
          <a:bodyPr/>
          <a:lstStyle/>
          <a:p>
            <a:r>
              <a:rPr lang="en-GB" dirty="0"/>
              <a:t>Lempel-Ziv-Welch</a:t>
            </a:r>
          </a:p>
        </p:txBody>
      </p:sp>
      <p:sp>
        <p:nvSpPr>
          <p:cNvPr id="4" name="Slide Number Placeholder 3">
            <a:extLst>
              <a:ext uri="{FF2B5EF4-FFF2-40B4-BE49-F238E27FC236}">
                <a16:creationId xmlns:a16="http://schemas.microsoft.com/office/drawing/2014/main" id="{51DC30AA-441B-B3B0-257D-F6FF631620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28588B-BD9A-4251-A19C-E5A25975C99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17801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01D13-2053-8363-9594-B5AE9B8F2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10433-0800-5ABB-A8E9-0C94EE5561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B9FFE-7075-2A7A-71A5-39E4095DFD87}"/>
              </a:ext>
            </a:extLst>
          </p:cNvPr>
          <p:cNvSpPr>
            <a:spLocks noGrp="1"/>
          </p:cNvSpPr>
          <p:nvPr>
            <p:ph type="body" idx="1"/>
          </p:nvPr>
        </p:nvSpPr>
        <p:spPr/>
        <p:txBody>
          <a:bodyPr/>
          <a:lstStyle/>
          <a:p>
            <a:r>
              <a:rPr lang="en-GB" dirty="0"/>
              <a:t>Shannon entropy used to ensure that characters are evenly and randomly distributed</a:t>
            </a:r>
          </a:p>
          <a:p>
            <a:endParaRPr lang="en-GB" dirty="0"/>
          </a:p>
          <a:p>
            <a:r>
              <a:rPr lang="en-GB" dirty="0"/>
              <a:t>Entropy makes it look more random</a:t>
            </a:r>
          </a:p>
          <a:p>
            <a:endParaRPr lang="en-GB" dirty="0"/>
          </a:p>
          <a:p>
            <a:r>
              <a:rPr lang="en-GB" dirty="0"/>
              <a:t>Perceptual visual variance makes sure the compression steps required to complete the questions are random </a:t>
            </a:r>
          </a:p>
        </p:txBody>
      </p:sp>
      <p:sp>
        <p:nvSpPr>
          <p:cNvPr id="4" name="Slide Number Placeholder 3">
            <a:extLst>
              <a:ext uri="{FF2B5EF4-FFF2-40B4-BE49-F238E27FC236}">
                <a16:creationId xmlns:a16="http://schemas.microsoft.com/office/drawing/2014/main" id="{0350FD48-FACF-007F-651F-4F1FDD0AFF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28588B-BD9A-4251-A19C-E5A25975C99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1238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8EE8B-0F6F-36B7-8190-37C2FC3F50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7491F-448E-E29A-56F5-830B8B4A36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558DF5-EC49-FA17-E64D-5FAB884B97F3}"/>
              </a:ext>
            </a:extLst>
          </p:cNvPr>
          <p:cNvSpPr>
            <a:spLocks noGrp="1"/>
          </p:cNvSpPr>
          <p:nvPr>
            <p:ph type="body" idx="1"/>
          </p:nvPr>
        </p:nvSpPr>
        <p:spPr/>
        <p:txBody>
          <a:bodyPr/>
          <a:lstStyle/>
          <a:p>
            <a:r>
              <a:rPr lang="en-GB" dirty="0"/>
              <a:t>Show you how to complete it when creating a paper</a:t>
            </a:r>
          </a:p>
          <a:p>
            <a:endParaRPr lang="en-GB"/>
          </a:p>
          <a:p>
            <a:endParaRPr lang="en-GB" dirty="0"/>
          </a:p>
          <a:p>
            <a:r>
              <a:rPr lang="en-GB" dirty="0"/>
              <a:t>CHANGE SCREEN TO SHOW WHAT YOU ARE DOING</a:t>
            </a:r>
          </a:p>
        </p:txBody>
      </p:sp>
      <p:sp>
        <p:nvSpPr>
          <p:cNvPr id="4" name="Slide Number Placeholder 3">
            <a:extLst>
              <a:ext uri="{FF2B5EF4-FFF2-40B4-BE49-F238E27FC236}">
                <a16:creationId xmlns:a16="http://schemas.microsoft.com/office/drawing/2014/main" id="{7CA56225-9CC2-DE00-C0C7-DB5DE7B6BC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28588B-BD9A-4251-A19C-E5A25975C99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14847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8DAF1-BCD4-ED0B-67DB-96D3D7791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E751E9-C6E2-A4E1-9317-4D53D61305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25FE4D-D344-7DCF-59BB-D19CF7D6BEE1}"/>
              </a:ext>
            </a:extLst>
          </p:cNvPr>
          <p:cNvSpPr>
            <a:spLocks noGrp="1"/>
          </p:cNvSpPr>
          <p:nvPr>
            <p:ph type="body" idx="1"/>
          </p:nvPr>
        </p:nvSpPr>
        <p:spPr/>
        <p:txBody>
          <a:bodyPr/>
          <a:lstStyle/>
          <a:p>
            <a:r>
              <a:rPr lang="en-GB" dirty="0"/>
              <a:t>That will generate on the left a student paper, and on the right, an answer key</a:t>
            </a:r>
          </a:p>
        </p:txBody>
      </p:sp>
      <p:sp>
        <p:nvSpPr>
          <p:cNvPr id="4" name="Slide Number Placeholder 3">
            <a:extLst>
              <a:ext uri="{FF2B5EF4-FFF2-40B4-BE49-F238E27FC236}">
                <a16:creationId xmlns:a16="http://schemas.microsoft.com/office/drawing/2014/main" id="{12D44203-E101-731A-60EB-BF9221C918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28588B-BD9A-4251-A19C-E5A25975C99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48767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857BE-2D90-632F-5C6F-1444EC6E2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B2E5B-FF4A-4954-15D7-6215FFBE06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9F0BC-E628-65BF-B527-E7122B8903FA}"/>
              </a:ext>
            </a:extLst>
          </p:cNvPr>
          <p:cNvSpPr>
            <a:spLocks noGrp="1"/>
          </p:cNvSpPr>
          <p:nvPr>
            <p:ph type="body" idx="1"/>
          </p:nvPr>
        </p:nvSpPr>
        <p:spPr/>
        <p:txBody>
          <a:bodyPr/>
          <a:lstStyle/>
          <a:p>
            <a:r>
              <a:rPr lang="en-GB" dirty="0"/>
              <a:t>Left hand side table shows how the generator scales linearly – but also the shaded area shows the deviation from what it usually produces – for the main high entropy use case there is no deviation so questions are equal to one another</a:t>
            </a:r>
          </a:p>
          <a:p>
            <a:endParaRPr lang="en-GB" dirty="0"/>
          </a:p>
          <a:p>
            <a:r>
              <a:rPr lang="en-GB" dirty="0"/>
              <a:t>Meaning fairness is achieved </a:t>
            </a:r>
          </a:p>
          <a:p>
            <a:endParaRPr lang="en-GB" dirty="0"/>
          </a:p>
          <a:p>
            <a:r>
              <a:rPr lang="en-GB" dirty="0"/>
              <a:t>Shannon entropy of the input string. Further right means more uniformly distributed characters, closer to the maximum of 2 bits. Further left means one character is dominating</a:t>
            </a:r>
          </a:p>
          <a:p>
            <a:endParaRPr lang="en-GB" dirty="0"/>
          </a:p>
          <a:p>
            <a:r>
              <a:rPr lang="en-GB" dirty="0"/>
              <a:t>Visual variance (in your current system, bigram diversity of the input string). Higher means more distinct adjacent pairs, the string looks more varied. Lower means fewer distinct pairs, the string looks more repetitive.</a:t>
            </a:r>
          </a:p>
          <a:p>
            <a:endParaRPr lang="en-GB" dirty="0"/>
          </a:p>
        </p:txBody>
      </p:sp>
      <p:sp>
        <p:nvSpPr>
          <p:cNvPr id="4" name="Slide Number Placeholder 3">
            <a:extLst>
              <a:ext uri="{FF2B5EF4-FFF2-40B4-BE49-F238E27FC236}">
                <a16:creationId xmlns:a16="http://schemas.microsoft.com/office/drawing/2014/main" id="{8604F4DB-1B5A-F674-A16A-4D599B7414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28588B-BD9A-4251-A19C-E5A25975C99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8847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3D0ED-44D7-A109-8DCC-1ED798400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3FC3B9-7721-D32E-0296-6CA2B2C75B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69880-5B80-D586-E0DC-C66134A1D10E}"/>
              </a:ext>
            </a:extLst>
          </p:cNvPr>
          <p:cNvSpPr>
            <a:spLocks noGrp="1"/>
          </p:cNvSpPr>
          <p:nvPr>
            <p:ph type="body" idx="1"/>
          </p:nvPr>
        </p:nvSpPr>
        <p:spPr/>
        <p:txBody>
          <a:bodyPr/>
          <a:lstStyle/>
          <a:p>
            <a:r>
              <a:rPr lang="en-GB" dirty="0"/>
              <a:t>Used the questions in a class test to ensure the generated questions met the criteria and were suitable for their use case</a:t>
            </a:r>
          </a:p>
          <a:p>
            <a:endParaRPr lang="en-GB" dirty="0"/>
          </a:p>
          <a:p>
            <a:r>
              <a:rPr lang="en-GB" dirty="0"/>
              <a:t>Also to gain insights from a subsequent student survey</a:t>
            </a:r>
          </a:p>
          <a:p>
            <a:endParaRPr lang="en-GB" dirty="0"/>
          </a:p>
          <a:p>
            <a:r>
              <a:rPr lang="en-GB" dirty="0"/>
              <a:t>Fair to have equally unique and difficult questions</a:t>
            </a:r>
          </a:p>
          <a:p>
            <a:endParaRPr lang="en-GB" dirty="0"/>
          </a:p>
          <a:p>
            <a:r>
              <a:rPr lang="en-GB" dirty="0"/>
              <a:t>Couldn’t be certain in how the questions are fair in difficulty if they are unsure of how they are changed as there is a degree to how much you can alter a question while claiming equal difficulty</a:t>
            </a:r>
          </a:p>
          <a:p>
            <a:endParaRPr lang="en-GB" dirty="0"/>
          </a:p>
          <a:p>
            <a:r>
              <a:rPr lang="en-GB" dirty="0"/>
              <a:t>Degree to which you can change a question and claim it is the same difficulty</a:t>
            </a:r>
          </a:p>
          <a:p>
            <a:endParaRPr lang="en-GB" dirty="0"/>
          </a:p>
          <a:p>
            <a:r>
              <a:rPr lang="en-GB" dirty="0"/>
              <a:t>Can be mitigated by briefing the students ahead of class tests about how questions are randomised</a:t>
            </a:r>
          </a:p>
          <a:p>
            <a:endParaRPr lang="en-GB" dirty="0"/>
          </a:p>
          <a:p>
            <a:r>
              <a:rPr lang="en-GB" dirty="0"/>
              <a:t>Com </a:t>
            </a:r>
            <a:r>
              <a:rPr lang="en-GB" dirty="0" err="1"/>
              <a:t>pah</a:t>
            </a:r>
            <a:r>
              <a:rPr lang="en-GB" dirty="0"/>
              <a:t> rah </a:t>
            </a:r>
            <a:r>
              <a:rPr lang="en-GB" dirty="0" err="1"/>
              <a:t>ble</a:t>
            </a:r>
            <a:endParaRPr lang="en-GB" dirty="0"/>
          </a:p>
        </p:txBody>
      </p:sp>
      <p:sp>
        <p:nvSpPr>
          <p:cNvPr id="4" name="Slide Number Placeholder 3">
            <a:extLst>
              <a:ext uri="{FF2B5EF4-FFF2-40B4-BE49-F238E27FC236}">
                <a16:creationId xmlns:a16="http://schemas.microsoft.com/office/drawing/2014/main" id="{D44AE85B-AD11-434F-7A19-B3A327A481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28588B-BD9A-4251-A19C-E5A25975C99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74286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80B6A-31E4-BFE1-BCC5-88C33F577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83ED3A-27A4-EC1C-C498-EB798CC36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6C1927-5DAD-18D9-27A4-8C359515E8C3}"/>
              </a:ext>
            </a:extLst>
          </p:cNvPr>
          <p:cNvSpPr>
            <a:spLocks noGrp="1"/>
          </p:cNvSpPr>
          <p:nvPr>
            <p:ph type="body" idx="1"/>
          </p:nvPr>
        </p:nvSpPr>
        <p:spPr/>
        <p:txBody>
          <a:bodyPr/>
          <a:lstStyle/>
          <a:p>
            <a:r>
              <a:rPr lang="en-GB" dirty="0"/>
              <a:t>In conclusion the qualitative and quantitative data indicates that the </a:t>
            </a:r>
            <a:r>
              <a:rPr lang="en-GB" dirty="0" err="1"/>
              <a:t>lzw</a:t>
            </a:r>
            <a:r>
              <a:rPr lang="en-GB" dirty="0"/>
              <a:t> compression and decompression meets the criteria of the question</a:t>
            </a:r>
          </a:p>
          <a:p>
            <a:endParaRPr lang="en-GB" dirty="0"/>
          </a:p>
          <a:p>
            <a:r>
              <a:rPr lang="en-GB" dirty="0"/>
              <a:t>Com </a:t>
            </a:r>
            <a:r>
              <a:rPr lang="en-GB" dirty="0" err="1"/>
              <a:t>pah</a:t>
            </a:r>
            <a:r>
              <a:rPr lang="en-GB" dirty="0"/>
              <a:t> rah </a:t>
            </a:r>
            <a:r>
              <a:rPr lang="en-GB" dirty="0" err="1"/>
              <a:t>ble</a:t>
            </a:r>
            <a:endParaRPr lang="en-GB" dirty="0"/>
          </a:p>
        </p:txBody>
      </p:sp>
      <p:sp>
        <p:nvSpPr>
          <p:cNvPr id="4" name="Slide Number Placeholder 3">
            <a:extLst>
              <a:ext uri="{FF2B5EF4-FFF2-40B4-BE49-F238E27FC236}">
                <a16:creationId xmlns:a16="http://schemas.microsoft.com/office/drawing/2014/main" id="{0C43C08F-9C66-20A3-82F6-D45467AB10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28588B-BD9A-4251-A19C-E5A25975C99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04989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9F975-83C7-6891-EEA3-91A1D7E138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6B380F2-125D-3EAE-317A-091A72D45F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F723E98-25EC-53DC-A102-5BBCF8CA01D7}"/>
              </a:ext>
            </a:extLst>
          </p:cNvPr>
          <p:cNvSpPr>
            <a:spLocks noGrp="1"/>
          </p:cNvSpPr>
          <p:nvPr>
            <p:ph type="dt" sz="half" idx="10"/>
          </p:nvPr>
        </p:nvSpPr>
        <p:spPr/>
        <p:txBody>
          <a:bodyPr/>
          <a:lstStyle/>
          <a:p>
            <a:fld id="{FB80344E-B3B2-4D33-96E9-66CD6AAA73AB}" type="datetimeFigureOut">
              <a:rPr lang="en-GB" smtClean="0"/>
              <a:t>20/03/2026</a:t>
            </a:fld>
            <a:endParaRPr lang="en-GB"/>
          </a:p>
        </p:txBody>
      </p:sp>
      <p:sp>
        <p:nvSpPr>
          <p:cNvPr id="5" name="Footer Placeholder 4">
            <a:extLst>
              <a:ext uri="{FF2B5EF4-FFF2-40B4-BE49-F238E27FC236}">
                <a16:creationId xmlns:a16="http://schemas.microsoft.com/office/drawing/2014/main" id="{C64C3BFC-6355-1057-5E75-FF2134A83F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B4F597-A3AB-EE1A-5BAE-C737EFC4ED24}"/>
              </a:ext>
            </a:extLst>
          </p:cNvPr>
          <p:cNvSpPr>
            <a:spLocks noGrp="1"/>
          </p:cNvSpPr>
          <p:nvPr>
            <p:ph type="sldNum" sz="quarter" idx="12"/>
          </p:nvPr>
        </p:nvSpPr>
        <p:spPr/>
        <p:txBody>
          <a:bodyPr/>
          <a:lstStyle/>
          <a:p>
            <a:fld id="{E365A255-E838-43FB-8D2C-0D2A7BDF7155}" type="slidenum">
              <a:rPr lang="en-GB" smtClean="0"/>
              <a:t>‹#›</a:t>
            </a:fld>
            <a:endParaRPr lang="en-GB"/>
          </a:p>
        </p:txBody>
      </p:sp>
    </p:spTree>
    <p:extLst>
      <p:ext uri="{BB962C8B-B14F-4D97-AF65-F5344CB8AC3E}">
        <p14:creationId xmlns:p14="http://schemas.microsoft.com/office/powerpoint/2010/main" val="2006257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95F05-C7C5-FAA4-07E3-4ADF0651D48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47FF603-6D78-DB4C-F896-3A19BD7459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2996E57-86E6-0367-A662-B0FD52AF9BEB}"/>
              </a:ext>
            </a:extLst>
          </p:cNvPr>
          <p:cNvSpPr>
            <a:spLocks noGrp="1"/>
          </p:cNvSpPr>
          <p:nvPr>
            <p:ph type="dt" sz="half" idx="10"/>
          </p:nvPr>
        </p:nvSpPr>
        <p:spPr/>
        <p:txBody>
          <a:bodyPr/>
          <a:lstStyle/>
          <a:p>
            <a:fld id="{FB80344E-B3B2-4D33-96E9-66CD6AAA73AB}" type="datetimeFigureOut">
              <a:rPr lang="en-GB" smtClean="0"/>
              <a:t>20/03/2026</a:t>
            </a:fld>
            <a:endParaRPr lang="en-GB"/>
          </a:p>
        </p:txBody>
      </p:sp>
      <p:sp>
        <p:nvSpPr>
          <p:cNvPr id="5" name="Footer Placeholder 4">
            <a:extLst>
              <a:ext uri="{FF2B5EF4-FFF2-40B4-BE49-F238E27FC236}">
                <a16:creationId xmlns:a16="http://schemas.microsoft.com/office/drawing/2014/main" id="{EEB7810C-1D4C-FFD2-5138-D6AA6BDF2B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CCB8DD-95C4-C589-796B-788CFD14EC96}"/>
              </a:ext>
            </a:extLst>
          </p:cNvPr>
          <p:cNvSpPr>
            <a:spLocks noGrp="1"/>
          </p:cNvSpPr>
          <p:nvPr>
            <p:ph type="sldNum" sz="quarter" idx="12"/>
          </p:nvPr>
        </p:nvSpPr>
        <p:spPr/>
        <p:txBody>
          <a:bodyPr/>
          <a:lstStyle/>
          <a:p>
            <a:fld id="{E365A255-E838-43FB-8D2C-0D2A7BDF7155}" type="slidenum">
              <a:rPr lang="en-GB" smtClean="0"/>
              <a:t>‹#›</a:t>
            </a:fld>
            <a:endParaRPr lang="en-GB"/>
          </a:p>
        </p:txBody>
      </p:sp>
    </p:spTree>
    <p:extLst>
      <p:ext uri="{BB962C8B-B14F-4D97-AF65-F5344CB8AC3E}">
        <p14:creationId xmlns:p14="http://schemas.microsoft.com/office/powerpoint/2010/main" val="2223130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10DBA-68C7-DB4D-E984-C213AB4CE4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31DE172-596F-201D-0CFC-798FA21B95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62C0E0-B782-0A54-375D-4E8C89F8920E}"/>
              </a:ext>
            </a:extLst>
          </p:cNvPr>
          <p:cNvSpPr>
            <a:spLocks noGrp="1"/>
          </p:cNvSpPr>
          <p:nvPr>
            <p:ph type="dt" sz="half" idx="10"/>
          </p:nvPr>
        </p:nvSpPr>
        <p:spPr/>
        <p:txBody>
          <a:bodyPr/>
          <a:lstStyle/>
          <a:p>
            <a:fld id="{FB80344E-B3B2-4D33-96E9-66CD6AAA73AB}" type="datetimeFigureOut">
              <a:rPr lang="en-GB" smtClean="0"/>
              <a:t>20/03/2026</a:t>
            </a:fld>
            <a:endParaRPr lang="en-GB"/>
          </a:p>
        </p:txBody>
      </p:sp>
      <p:sp>
        <p:nvSpPr>
          <p:cNvPr id="5" name="Footer Placeholder 4">
            <a:extLst>
              <a:ext uri="{FF2B5EF4-FFF2-40B4-BE49-F238E27FC236}">
                <a16:creationId xmlns:a16="http://schemas.microsoft.com/office/drawing/2014/main" id="{B531035F-083A-8AF8-5DF0-65EB7EB3F5C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659851D-E46D-0FA6-7763-41724D956066}"/>
              </a:ext>
            </a:extLst>
          </p:cNvPr>
          <p:cNvSpPr>
            <a:spLocks noGrp="1"/>
          </p:cNvSpPr>
          <p:nvPr>
            <p:ph type="sldNum" sz="quarter" idx="12"/>
          </p:nvPr>
        </p:nvSpPr>
        <p:spPr/>
        <p:txBody>
          <a:bodyPr/>
          <a:lstStyle/>
          <a:p>
            <a:fld id="{E365A255-E838-43FB-8D2C-0D2A7BDF7155}" type="slidenum">
              <a:rPr lang="en-GB" smtClean="0"/>
              <a:t>‹#›</a:t>
            </a:fld>
            <a:endParaRPr lang="en-GB"/>
          </a:p>
        </p:txBody>
      </p:sp>
    </p:spTree>
    <p:extLst>
      <p:ext uri="{BB962C8B-B14F-4D97-AF65-F5344CB8AC3E}">
        <p14:creationId xmlns:p14="http://schemas.microsoft.com/office/powerpoint/2010/main" val="69993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AEB5D-F7CC-E141-737C-465B6F3E82A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02033FB-C7FE-0F7E-F136-D84131F2B2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842DBBD-1A50-8ED0-F75C-1E278DA337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4C480F0-D28F-8470-23FD-5EF2E28FE1A8}"/>
              </a:ext>
            </a:extLst>
          </p:cNvPr>
          <p:cNvSpPr>
            <a:spLocks noGrp="1"/>
          </p:cNvSpPr>
          <p:nvPr>
            <p:ph type="dt" sz="half" idx="10"/>
          </p:nvPr>
        </p:nvSpPr>
        <p:spPr/>
        <p:txBody>
          <a:bodyPr/>
          <a:lstStyle/>
          <a:p>
            <a:fld id="{FB80344E-B3B2-4D33-96E9-66CD6AAA73AB}" type="datetimeFigureOut">
              <a:rPr lang="en-GB" smtClean="0"/>
              <a:t>20/03/2026</a:t>
            </a:fld>
            <a:endParaRPr lang="en-GB"/>
          </a:p>
        </p:txBody>
      </p:sp>
      <p:sp>
        <p:nvSpPr>
          <p:cNvPr id="6" name="Footer Placeholder 5">
            <a:extLst>
              <a:ext uri="{FF2B5EF4-FFF2-40B4-BE49-F238E27FC236}">
                <a16:creationId xmlns:a16="http://schemas.microsoft.com/office/drawing/2014/main" id="{5B1B24B0-971B-BDAE-9449-A267451207A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6D3704D-D7EB-E0AB-A8B1-D5B5F88D6774}"/>
              </a:ext>
            </a:extLst>
          </p:cNvPr>
          <p:cNvSpPr>
            <a:spLocks noGrp="1"/>
          </p:cNvSpPr>
          <p:nvPr>
            <p:ph type="sldNum" sz="quarter" idx="12"/>
          </p:nvPr>
        </p:nvSpPr>
        <p:spPr/>
        <p:txBody>
          <a:bodyPr/>
          <a:lstStyle/>
          <a:p>
            <a:fld id="{E365A255-E838-43FB-8D2C-0D2A7BDF7155}" type="slidenum">
              <a:rPr lang="en-GB" smtClean="0"/>
              <a:t>‹#›</a:t>
            </a:fld>
            <a:endParaRPr lang="en-GB"/>
          </a:p>
        </p:txBody>
      </p:sp>
    </p:spTree>
    <p:extLst>
      <p:ext uri="{BB962C8B-B14F-4D97-AF65-F5344CB8AC3E}">
        <p14:creationId xmlns:p14="http://schemas.microsoft.com/office/powerpoint/2010/main" val="2861789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6D784-E795-50DE-D905-B59342023EF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DC55F4C-F5B2-C32C-C551-A1F4584AC0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890ECF-C6CD-1AD2-3CF7-96D75DCCA3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70FF871-0782-CDFD-0EB6-798A19F5A8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BA1495-47E1-2349-1F1B-1A579B69DD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5A2DE04-0FF5-47CE-FA2B-6AD995F91718}"/>
              </a:ext>
            </a:extLst>
          </p:cNvPr>
          <p:cNvSpPr>
            <a:spLocks noGrp="1"/>
          </p:cNvSpPr>
          <p:nvPr>
            <p:ph type="dt" sz="half" idx="10"/>
          </p:nvPr>
        </p:nvSpPr>
        <p:spPr/>
        <p:txBody>
          <a:bodyPr/>
          <a:lstStyle/>
          <a:p>
            <a:fld id="{FB80344E-B3B2-4D33-96E9-66CD6AAA73AB}" type="datetimeFigureOut">
              <a:rPr lang="en-GB" smtClean="0"/>
              <a:t>20/03/2026</a:t>
            </a:fld>
            <a:endParaRPr lang="en-GB"/>
          </a:p>
        </p:txBody>
      </p:sp>
      <p:sp>
        <p:nvSpPr>
          <p:cNvPr id="8" name="Footer Placeholder 7">
            <a:extLst>
              <a:ext uri="{FF2B5EF4-FFF2-40B4-BE49-F238E27FC236}">
                <a16:creationId xmlns:a16="http://schemas.microsoft.com/office/drawing/2014/main" id="{EF0A4715-A74C-9ECA-A7D9-3ECCFD627CC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F00C2E6-0DFA-337E-3B33-F843DF4BCD47}"/>
              </a:ext>
            </a:extLst>
          </p:cNvPr>
          <p:cNvSpPr>
            <a:spLocks noGrp="1"/>
          </p:cNvSpPr>
          <p:nvPr>
            <p:ph type="sldNum" sz="quarter" idx="12"/>
          </p:nvPr>
        </p:nvSpPr>
        <p:spPr/>
        <p:txBody>
          <a:bodyPr/>
          <a:lstStyle/>
          <a:p>
            <a:fld id="{E365A255-E838-43FB-8D2C-0D2A7BDF7155}" type="slidenum">
              <a:rPr lang="en-GB" smtClean="0"/>
              <a:t>‹#›</a:t>
            </a:fld>
            <a:endParaRPr lang="en-GB"/>
          </a:p>
        </p:txBody>
      </p:sp>
    </p:spTree>
    <p:extLst>
      <p:ext uri="{BB962C8B-B14F-4D97-AF65-F5344CB8AC3E}">
        <p14:creationId xmlns:p14="http://schemas.microsoft.com/office/powerpoint/2010/main" val="2485758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375B8-8477-13D1-2266-C203A5300EC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EA16350-0AE3-8AB4-FE0B-FEA0F517A5A0}"/>
              </a:ext>
            </a:extLst>
          </p:cNvPr>
          <p:cNvSpPr>
            <a:spLocks noGrp="1"/>
          </p:cNvSpPr>
          <p:nvPr>
            <p:ph type="dt" sz="half" idx="10"/>
          </p:nvPr>
        </p:nvSpPr>
        <p:spPr/>
        <p:txBody>
          <a:bodyPr/>
          <a:lstStyle/>
          <a:p>
            <a:fld id="{FB80344E-B3B2-4D33-96E9-66CD6AAA73AB}" type="datetimeFigureOut">
              <a:rPr lang="en-GB" smtClean="0"/>
              <a:t>20/03/2026</a:t>
            </a:fld>
            <a:endParaRPr lang="en-GB"/>
          </a:p>
        </p:txBody>
      </p:sp>
      <p:sp>
        <p:nvSpPr>
          <p:cNvPr id="4" name="Footer Placeholder 3">
            <a:extLst>
              <a:ext uri="{FF2B5EF4-FFF2-40B4-BE49-F238E27FC236}">
                <a16:creationId xmlns:a16="http://schemas.microsoft.com/office/drawing/2014/main" id="{CA666884-FD39-4C4E-E6C8-775959BA325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3735CFD-153E-6647-19A3-23F372842B21}"/>
              </a:ext>
            </a:extLst>
          </p:cNvPr>
          <p:cNvSpPr>
            <a:spLocks noGrp="1"/>
          </p:cNvSpPr>
          <p:nvPr>
            <p:ph type="sldNum" sz="quarter" idx="12"/>
          </p:nvPr>
        </p:nvSpPr>
        <p:spPr/>
        <p:txBody>
          <a:bodyPr/>
          <a:lstStyle/>
          <a:p>
            <a:fld id="{E365A255-E838-43FB-8D2C-0D2A7BDF7155}" type="slidenum">
              <a:rPr lang="en-GB" smtClean="0"/>
              <a:t>‹#›</a:t>
            </a:fld>
            <a:endParaRPr lang="en-GB"/>
          </a:p>
        </p:txBody>
      </p:sp>
    </p:spTree>
    <p:extLst>
      <p:ext uri="{BB962C8B-B14F-4D97-AF65-F5344CB8AC3E}">
        <p14:creationId xmlns:p14="http://schemas.microsoft.com/office/powerpoint/2010/main" val="7219920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4ECE31-C329-F98C-2C95-064D8C6A6D06}"/>
              </a:ext>
            </a:extLst>
          </p:cNvPr>
          <p:cNvSpPr>
            <a:spLocks noGrp="1"/>
          </p:cNvSpPr>
          <p:nvPr>
            <p:ph type="dt" sz="half" idx="10"/>
          </p:nvPr>
        </p:nvSpPr>
        <p:spPr/>
        <p:txBody>
          <a:bodyPr/>
          <a:lstStyle/>
          <a:p>
            <a:fld id="{FB80344E-B3B2-4D33-96E9-66CD6AAA73AB}" type="datetimeFigureOut">
              <a:rPr lang="en-GB" smtClean="0"/>
              <a:t>20/03/2026</a:t>
            </a:fld>
            <a:endParaRPr lang="en-GB"/>
          </a:p>
        </p:txBody>
      </p:sp>
      <p:sp>
        <p:nvSpPr>
          <p:cNvPr id="3" name="Footer Placeholder 2">
            <a:extLst>
              <a:ext uri="{FF2B5EF4-FFF2-40B4-BE49-F238E27FC236}">
                <a16:creationId xmlns:a16="http://schemas.microsoft.com/office/drawing/2014/main" id="{9C8479B9-C1E1-E873-BBA0-EDC0DDCA9A5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BC5395F-5D0F-3314-9950-BADA27F005A4}"/>
              </a:ext>
            </a:extLst>
          </p:cNvPr>
          <p:cNvSpPr>
            <a:spLocks noGrp="1"/>
          </p:cNvSpPr>
          <p:nvPr>
            <p:ph type="sldNum" sz="quarter" idx="12"/>
          </p:nvPr>
        </p:nvSpPr>
        <p:spPr/>
        <p:txBody>
          <a:bodyPr/>
          <a:lstStyle/>
          <a:p>
            <a:fld id="{E365A255-E838-43FB-8D2C-0D2A7BDF7155}" type="slidenum">
              <a:rPr lang="en-GB" smtClean="0"/>
              <a:t>‹#›</a:t>
            </a:fld>
            <a:endParaRPr lang="en-GB"/>
          </a:p>
        </p:txBody>
      </p:sp>
    </p:spTree>
    <p:extLst>
      <p:ext uri="{BB962C8B-B14F-4D97-AF65-F5344CB8AC3E}">
        <p14:creationId xmlns:p14="http://schemas.microsoft.com/office/powerpoint/2010/main" val="1917260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ED8E9-38E0-480E-2393-00F2650D7D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0F262CA-C4F4-ECAB-C7DC-EDEB31F6FC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F833211-DB03-3080-C37F-7B1C0A2552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CFB2B4-D999-31D1-F3E8-5CB80CB1AE03}"/>
              </a:ext>
            </a:extLst>
          </p:cNvPr>
          <p:cNvSpPr>
            <a:spLocks noGrp="1"/>
          </p:cNvSpPr>
          <p:nvPr>
            <p:ph type="dt" sz="half" idx="10"/>
          </p:nvPr>
        </p:nvSpPr>
        <p:spPr/>
        <p:txBody>
          <a:bodyPr/>
          <a:lstStyle/>
          <a:p>
            <a:fld id="{FB80344E-B3B2-4D33-96E9-66CD6AAA73AB}" type="datetimeFigureOut">
              <a:rPr lang="en-GB" smtClean="0"/>
              <a:t>20/03/2026</a:t>
            </a:fld>
            <a:endParaRPr lang="en-GB"/>
          </a:p>
        </p:txBody>
      </p:sp>
      <p:sp>
        <p:nvSpPr>
          <p:cNvPr id="6" name="Footer Placeholder 5">
            <a:extLst>
              <a:ext uri="{FF2B5EF4-FFF2-40B4-BE49-F238E27FC236}">
                <a16:creationId xmlns:a16="http://schemas.microsoft.com/office/drawing/2014/main" id="{16EADF35-8964-701E-2380-74BEC06A8CD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13ACF91-FAF7-5FA3-61DE-4C69FD1C7E92}"/>
              </a:ext>
            </a:extLst>
          </p:cNvPr>
          <p:cNvSpPr>
            <a:spLocks noGrp="1"/>
          </p:cNvSpPr>
          <p:nvPr>
            <p:ph type="sldNum" sz="quarter" idx="12"/>
          </p:nvPr>
        </p:nvSpPr>
        <p:spPr/>
        <p:txBody>
          <a:bodyPr/>
          <a:lstStyle/>
          <a:p>
            <a:fld id="{E365A255-E838-43FB-8D2C-0D2A7BDF7155}" type="slidenum">
              <a:rPr lang="en-GB" smtClean="0"/>
              <a:t>‹#›</a:t>
            </a:fld>
            <a:endParaRPr lang="en-GB"/>
          </a:p>
        </p:txBody>
      </p:sp>
    </p:spTree>
    <p:extLst>
      <p:ext uri="{BB962C8B-B14F-4D97-AF65-F5344CB8AC3E}">
        <p14:creationId xmlns:p14="http://schemas.microsoft.com/office/powerpoint/2010/main" val="144067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63F5D-53F3-CB62-D674-E0B23C567A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7E44EC1-D459-406E-0EA3-EA51DD5332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844B28B-A826-0DA0-596D-368D96FCFB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BFA0BD-C714-C232-BE42-5907F58D2E41}"/>
              </a:ext>
            </a:extLst>
          </p:cNvPr>
          <p:cNvSpPr>
            <a:spLocks noGrp="1"/>
          </p:cNvSpPr>
          <p:nvPr>
            <p:ph type="dt" sz="half" idx="10"/>
          </p:nvPr>
        </p:nvSpPr>
        <p:spPr/>
        <p:txBody>
          <a:bodyPr/>
          <a:lstStyle/>
          <a:p>
            <a:fld id="{FB80344E-B3B2-4D33-96E9-66CD6AAA73AB}" type="datetimeFigureOut">
              <a:rPr lang="en-GB" smtClean="0"/>
              <a:t>20/03/2026</a:t>
            </a:fld>
            <a:endParaRPr lang="en-GB"/>
          </a:p>
        </p:txBody>
      </p:sp>
      <p:sp>
        <p:nvSpPr>
          <p:cNvPr id="6" name="Footer Placeholder 5">
            <a:extLst>
              <a:ext uri="{FF2B5EF4-FFF2-40B4-BE49-F238E27FC236}">
                <a16:creationId xmlns:a16="http://schemas.microsoft.com/office/drawing/2014/main" id="{B3BF2BCC-2D0C-7DA3-58E9-B12A5CE1B76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D941101-95C9-5747-C7E9-0C86B38D8CCA}"/>
              </a:ext>
            </a:extLst>
          </p:cNvPr>
          <p:cNvSpPr>
            <a:spLocks noGrp="1"/>
          </p:cNvSpPr>
          <p:nvPr>
            <p:ph type="sldNum" sz="quarter" idx="12"/>
          </p:nvPr>
        </p:nvSpPr>
        <p:spPr/>
        <p:txBody>
          <a:bodyPr/>
          <a:lstStyle/>
          <a:p>
            <a:fld id="{E365A255-E838-43FB-8D2C-0D2A7BDF7155}" type="slidenum">
              <a:rPr lang="en-GB" smtClean="0"/>
              <a:t>‹#›</a:t>
            </a:fld>
            <a:endParaRPr lang="en-GB"/>
          </a:p>
        </p:txBody>
      </p:sp>
    </p:spTree>
    <p:extLst>
      <p:ext uri="{BB962C8B-B14F-4D97-AF65-F5344CB8AC3E}">
        <p14:creationId xmlns:p14="http://schemas.microsoft.com/office/powerpoint/2010/main" val="76957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48F77-2FE7-2898-5679-1585112D56F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1D30B95-0135-B5B5-8468-3D37E40C13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9531487-F7DB-63B3-A895-3FD3F445BF21}"/>
              </a:ext>
            </a:extLst>
          </p:cNvPr>
          <p:cNvSpPr>
            <a:spLocks noGrp="1"/>
          </p:cNvSpPr>
          <p:nvPr>
            <p:ph type="dt" sz="half" idx="10"/>
          </p:nvPr>
        </p:nvSpPr>
        <p:spPr/>
        <p:txBody>
          <a:bodyPr/>
          <a:lstStyle/>
          <a:p>
            <a:fld id="{FB80344E-B3B2-4D33-96E9-66CD6AAA73AB}" type="datetimeFigureOut">
              <a:rPr lang="en-GB" smtClean="0"/>
              <a:t>20/03/2026</a:t>
            </a:fld>
            <a:endParaRPr lang="en-GB"/>
          </a:p>
        </p:txBody>
      </p:sp>
      <p:sp>
        <p:nvSpPr>
          <p:cNvPr id="5" name="Footer Placeholder 4">
            <a:extLst>
              <a:ext uri="{FF2B5EF4-FFF2-40B4-BE49-F238E27FC236}">
                <a16:creationId xmlns:a16="http://schemas.microsoft.com/office/drawing/2014/main" id="{57A60CCA-6EDD-76C8-238D-98B7321C30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99F240C-D74A-CAD7-CC4D-2EA2762181EB}"/>
              </a:ext>
            </a:extLst>
          </p:cNvPr>
          <p:cNvSpPr>
            <a:spLocks noGrp="1"/>
          </p:cNvSpPr>
          <p:nvPr>
            <p:ph type="sldNum" sz="quarter" idx="12"/>
          </p:nvPr>
        </p:nvSpPr>
        <p:spPr/>
        <p:txBody>
          <a:bodyPr/>
          <a:lstStyle/>
          <a:p>
            <a:fld id="{E365A255-E838-43FB-8D2C-0D2A7BDF7155}" type="slidenum">
              <a:rPr lang="en-GB" smtClean="0"/>
              <a:t>‹#›</a:t>
            </a:fld>
            <a:endParaRPr lang="en-GB"/>
          </a:p>
        </p:txBody>
      </p:sp>
    </p:spTree>
    <p:extLst>
      <p:ext uri="{BB962C8B-B14F-4D97-AF65-F5344CB8AC3E}">
        <p14:creationId xmlns:p14="http://schemas.microsoft.com/office/powerpoint/2010/main" val="3164659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D0AB39-A74D-C1CE-A6F5-CFD4A2390E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EE47D1D-5999-8AC0-9BD5-97904B303A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898F8F-C866-A411-7D7F-8F5C63305CB2}"/>
              </a:ext>
            </a:extLst>
          </p:cNvPr>
          <p:cNvSpPr>
            <a:spLocks noGrp="1"/>
          </p:cNvSpPr>
          <p:nvPr>
            <p:ph type="dt" sz="half" idx="10"/>
          </p:nvPr>
        </p:nvSpPr>
        <p:spPr/>
        <p:txBody>
          <a:bodyPr/>
          <a:lstStyle/>
          <a:p>
            <a:fld id="{FB80344E-B3B2-4D33-96E9-66CD6AAA73AB}" type="datetimeFigureOut">
              <a:rPr lang="en-GB" smtClean="0"/>
              <a:t>20/03/2026</a:t>
            </a:fld>
            <a:endParaRPr lang="en-GB"/>
          </a:p>
        </p:txBody>
      </p:sp>
      <p:sp>
        <p:nvSpPr>
          <p:cNvPr id="5" name="Footer Placeholder 4">
            <a:extLst>
              <a:ext uri="{FF2B5EF4-FFF2-40B4-BE49-F238E27FC236}">
                <a16:creationId xmlns:a16="http://schemas.microsoft.com/office/drawing/2014/main" id="{AE5A250F-F299-2DFC-EA6C-02628E68AB0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AD7385-D249-1277-F74D-76648EF7B8A9}"/>
              </a:ext>
            </a:extLst>
          </p:cNvPr>
          <p:cNvSpPr>
            <a:spLocks noGrp="1"/>
          </p:cNvSpPr>
          <p:nvPr>
            <p:ph type="sldNum" sz="quarter" idx="12"/>
          </p:nvPr>
        </p:nvSpPr>
        <p:spPr/>
        <p:txBody>
          <a:bodyPr/>
          <a:lstStyle/>
          <a:p>
            <a:fld id="{E365A255-E838-43FB-8D2C-0D2A7BDF7155}" type="slidenum">
              <a:rPr lang="en-GB" smtClean="0"/>
              <a:t>‹#›</a:t>
            </a:fld>
            <a:endParaRPr lang="en-GB"/>
          </a:p>
        </p:txBody>
      </p:sp>
    </p:spTree>
    <p:extLst>
      <p:ext uri="{BB962C8B-B14F-4D97-AF65-F5344CB8AC3E}">
        <p14:creationId xmlns:p14="http://schemas.microsoft.com/office/powerpoint/2010/main" val="2413523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1F4289-2CF7-6230-C6AC-057E21B858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D538EE0-88F6-0C1F-23E5-C45F812ECD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AE56E78-D579-3C6F-D639-5E02DEFC29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80344E-B3B2-4D33-96E9-66CD6AAA73AB}" type="datetimeFigureOut">
              <a:rPr lang="en-GB" smtClean="0"/>
              <a:t>20/03/2026</a:t>
            </a:fld>
            <a:endParaRPr lang="en-GB"/>
          </a:p>
        </p:txBody>
      </p:sp>
      <p:sp>
        <p:nvSpPr>
          <p:cNvPr id="5" name="Footer Placeholder 4">
            <a:extLst>
              <a:ext uri="{FF2B5EF4-FFF2-40B4-BE49-F238E27FC236}">
                <a16:creationId xmlns:a16="http://schemas.microsoft.com/office/drawing/2014/main" id="{E5192DC3-D7D2-115B-EE20-1929E2F53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B120139-01E5-F8FA-BB6C-4A015B3E1C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65A255-E838-43FB-8D2C-0D2A7BDF7155}" type="slidenum">
              <a:rPr lang="en-GB" smtClean="0"/>
              <a:t>‹#›</a:t>
            </a:fld>
            <a:endParaRPr lang="en-GB"/>
          </a:p>
        </p:txBody>
      </p:sp>
    </p:spTree>
    <p:extLst>
      <p:ext uri="{BB962C8B-B14F-4D97-AF65-F5344CB8AC3E}">
        <p14:creationId xmlns:p14="http://schemas.microsoft.com/office/powerpoint/2010/main" val="40247681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604ACA7E-40EE-A224-3C89-66BA54D72831}"/>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1175EE25-A649-B220-AD19-EDFA679A51CC}"/>
              </a:ext>
            </a:extLst>
          </p:cNvPr>
          <p:cNvSpPr txBox="1">
            <a:spLocks/>
          </p:cNvSpPr>
          <p:nvPr/>
        </p:nvSpPr>
        <p:spPr>
          <a:xfrm>
            <a:off x="1524000" y="1122363"/>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6000" dirty="0"/>
              <a:t>Automated LZW Exercise Generation</a:t>
            </a:r>
          </a:p>
        </p:txBody>
      </p:sp>
      <p:sp>
        <p:nvSpPr>
          <p:cNvPr id="11" name="Subtitle 2">
            <a:extLst>
              <a:ext uri="{FF2B5EF4-FFF2-40B4-BE49-F238E27FC236}">
                <a16:creationId xmlns:a16="http://schemas.microsoft.com/office/drawing/2014/main" id="{20E61EF6-AA6E-1B23-1651-4DC3BDCFA56D}"/>
              </a:ext>
            </a:extLst>
          </p:cNvPr>
          <p:cNvSpPr txBox="1">
            <a:spLocks/>
          </p:cNvSpPr>
          <p:nvPr/>
        </p:nvSpPr>
        <p:spPr>
          <a:xfrm>
            <a:off x="1524000" y="3602038"/>
            <a:ext cx="9144000" cy="1655762"/>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GB" i="1" dirty="0"/>
              <a:t>Generating fair, unique assessment questions for an algorithmics course</a:t>
            </a:r>
          </a:p>
          <a:p>
            <a:pPr algn="ctr"/>
            <a:endParaRPr lang="en-GB" i="1" dirty="0"/>
          </a:p>
          <a:p>
            <a:pPr algn="ctr"/>
            <a:endParaRPr lang="en-GB" i="1" dirty="0"/>
          </a:p>
          <a:p>
            <a:pPr marL="0" indent="0" algn="ctr">
              <a:buNone/>
            </a:pPr>
            <a:r>
              <a:rPr lang="en-GB" dirty="0"/>
              <a:t>Andrew King</a:t>
            </a:r>
          </a:p>
        </p:txBody>
      </p:sp>
    </p:spTree>
    <p:extLst>
      <p:ext uri="{BB962C8B-B14F-4D97-AF65-F5344CB8AC3E}">
        <p14:creationId xmlns:p14="http://schemas.microsoft.com/office/powerpoint/2010/main" val="2464047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EC16F540-CF3E-24FB-151D-593C689432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E9936-39CB-86FE-3E66-6C77E0FD9A55}"/>
              </a:ext>
            </a:extLst>
          </p:cNvPr>
          <p:cNvSpPr>
            <a:spLocks noGrp="1"/>
          </p:cNvSpPr>
          <p:nvPr>
            <p:ph type="title"/>
          </p:nvPr>
        </p:nvSpPr>
        <p:spPr>
          <a:xfrm>
            <a:off x="838200" y="365125"/>
            <a:ext cx="10515600" cy="1325563"/>
          </a:xfrm>
        </p:spPr>
        <p:txBody>
          <a:bodyPr/>
          <a:lstStyle/>
          <a:p>
            <a:r>
              <a:rPr lang="en-GB" dirty="0"/>
              <a:t>The Problem</a:t>
            </a:r>
          </a:p>
        </p:txBody>
      </p:sp>
      <p:sp>
        <p:nvSpPr>
          <p:cNvPr id="3" name="Content Placeholder 2">
            <a:extLst>
              <a:ext uri="{FF2B5EF4-FFF2-40B4-BE49-F238E27FC236}">
                <a16:creationId xmlns:a16="http://schemas.microsoft.com/office/drawing/2014/main" id="{67EEE2DF-D9FD-8014-466B-0BB8AAAFFB89}"/>
              </a:ext>
            </a:extLst>
          </p:cNvPr>
          <p:cNvSpPr>
            <a:spLocks noGrp="1"/>
          </p:cNvSpPr>
          <p:nvPr>
            <p:ph idx="1"/>
          </p:nvPr>
        </p:nvSpPr>
        <p:spPr>
          <a:xfrm>
            <a:off x="838200" y="1690688"/>
            <a:ext cx="10515600" cy="4351338"/>
          </a:xfrm>
        </p:spPr>
        <p:txBody>
          <a:bodyPr/>
          <a:lstStyle/>
          <a:p>
            <a:r>
              <a:rPr lang="en-GB" dirty="0"/>
              <a:t>Giving every student the same paper creates potential collusion risk</a:t>
            </a:r>
          </a:p>
          <a:p>
            <a:pPr marL="0" indent="0">
              <a:buNone/>
            </a:pPr>
            <a:endParaRPr lang="en-GB" dirty="0"/>
          </a:p>
          <a:p>
            <a:r>
              <a:rPr lang="en-GB" dirty="0"/>
              <a:t>Composing unique assessment papers manually is time-consuming and hard to calibrate fairly</a:t>
            </a:r>
          </a:p>
          <a:p>
            <a:pPr marL="0" indent="0">
              <a:buNone/>
            </a:pPr>
            <a:endParaRPr lang="en-GB" dirty="0"/>
          </a:p>
          <a:p>
            <a:r>
              <a:rPr lang="en-GB" dirty="0"/>
              <a:t>The challenge: questions need to be varied enough to prevent collusion, but similar enough in difficulty to be fair</a:t>
            </a:r>
          </a:p>
        </p:txBody>
      </p:sp>
    </p:spTree>
    <p:extLst>
      <p:ext uri="{BB962C8B-B14F-4D97-AF65-F5344CB8AC3E}">
        <p14:creationId xmlns:p14="http://schemas.microsoft.com/office/powerpoint/2010/main" val="3182649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346C4A58-4414-4AE3-CCBE-36D2FCC55D0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8AF9B15-35F4-0883-AC04-89A266ACC6D0}"/>
              </a:ext>
            </a:extLst>
          </p:cNvPr>
          <p:cNvSpPr>
            <a:spLocks noGrp="1"/>
          </p:cNvSpPr>
          <p:nvPr>
            <p:ph type="title"/>
          </p:nvPr>
        </p:nvSpPr>
        <p:spPr>
          <a:xfrm>
            <a:off x="630936" y="639520"/>
            <a:ext cx="3429000" cy="1719072"/>
          </a:xfrm>
        </p:spPr>
        <p:txBody>
          <a:bodyPr anchor="b">
            <a:normAutofit/>
          </a:bodyPr>
          <a:lstStyle/>
          <a:p>
            <a:r>
              <a:rPr lang="en-GB" sz="5400" dirty="0"/>
              <a:t>LZW algorithm</a:t>
            </a:r>
          </a:p>
        </p:txBody>
      </p:sp>
      <p:sp>
        <p:nvSpPr>
          <p:cNvPr id="9" name="Content Placeholder 2">
            <a:extLst>
              <a:ext uri="{FF2B5EF4-FFF2-40B4-BE49-F238E27FC236}">
                <a16:creationId xmlns:a16="http://schemas.microsoft.com/office/drawing/2014/main" id="{F8602ABE-21A2-9AAF-2A50-D96BFEA8ACBA}"/>
              </a:ext>
            </a:extLst>
          </p:cNvPr>
          <p:cNvSpPr>
            <a:spLocks noGrp="1"/>
          </p:cNvSpPr>
          <p:nvPr>
            <p:ph idx="1"/>
          </p:nvPr>
        </p:nvSpPr>
        <p:spPr>
          <a:xfrm>
            <a:off x="630936" y="2807208"/>
            <a:ext cx="3429000" cy="3410712"/>
          </a:xfrm>
        </p:spPr>
        <p:txBody>
          <a:bodyPr anchor="t">
            <a:normAutofit/>
          </a:bodyPr>
          <a:lstStyle/>
          <a:p>
            <a:r>
              <a:rPr lang="en-GB" sz="2200" dirty="0"/>
              <a:t>Dictionary-based compression algorithm</a:t>
            </a:r>
          </a:p>
          <a:p>
            <a:r>
              <a:rPr lang="en-GB" sz="2200" dirty="0"/>
              <a:t>Initialise dictionary with base alphabet: A=00, C=01, G=10, T=11</a:t>
            </a:r>
          </a:p>
          <a:p>
            <a:r>
              <a:rPr lang="en-GB" sz="2400" dirty="0"/>
              <a:t>Step-by-step execution maps naturally onto an exam table</a:t>
            </a:r>
            <a:endParaRPr lang="en-GB" sz="2200" dirty="0"/>
          </a:p>
          <a:p>
            <a:endParaRPr lang="en-GB" sz="2200" dirty="0"/>
          </a:p>
          <a:p>
            <a:endParaRPr lang="en-GB" sz="2200" dirty="0"/>
          </a:p>
        </p:txBody>
      </p:sp>
      <p:pic>
        <p:nvPicPr>
          <p:cNvPr id="10" name="Picture 9">
            <a:extLst>
              <a:ext uri="{FF2B5EF4-FFF2-40B4-BE49-F238E27FC236}">
                <a16:creationId xmlns:a16="http://schemas.microsoft.com/office/drawing/2014/main" id="{5393E37A-979D-1702-BE65-CC2760C86F96}"/>
              </a:ext>
            </a:extLst>
          </p:cNvPr>
          <p:cNvPicPr>
            <a:picLocks noChangeAspect="1"/>
          </p:cNvPicPr>
          <p:nvPr/>
        </p:nvPicPr>
        <p:blipFill>
          <a:blip r:embed="rId3"/>
          <a:stretch>
            <a:fillRect/>
          </a:stretch>
        </p:blipFill>
        <p:spPr>
          <a:xfrm>
            <a:off x="4593326" y="919080"/>
            <a:ext cx="6903720" cy="4435640"/>
          </a:xfrm>
          <a:prstGeom prst="rect">
            <a:avLst/>
          </a:prstGeom>
        </p:spPr>
      </p:pic>
    </p:spTree>
    <p:extLst>
      <p:ext uri="{BB962C8B-B14F-4D97-AF65-F5344CB8AC3E}">
        <p14:creationId xmlns:p14="http://schemas.microsoft.com/office/powerpoint/2010/main" val="803644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E2EEAFAD-D68D-6BB1-6628-BFA707FFE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63E0D-1F2B-5E06-C43C-9749F8F71FB4}"/>
              </a:ext>
            </a:extLst>
          </p:cNvPr>
          <p:cNvSpPr>
            <a:spLocks noGrp="1"/>
          </p:cNvSpPr>
          <p:nvPr>
            <p:ph type="title"/>
          </p:nvPr>
        </p:nvSpPr>
        <p:spPr>
          <a:xfrm>
            <a:off x="838200" y="365125"/>
            <a:ext cx="10515600" cy="1325563"/>
          </a:xfrm>
        </p:spPr>
        <p:txBody>
          <a:bodyPr/>
          <a:lstStyle/>
          <a:p>
            <a:r>
              <a:rPr lang="en-GB" dirty="0"/>
              <a:t>Controlling Difficulty</a:t>
            </a:r>
          </a:p>
        </p:txBody>
      </p:sp>
      <p:sp>
        <p:nvSpPr>
          <p:cNvPr id="3" name="Content Placeholder 2">
            <a:extLst>
              <a:ext uri="{FF2B5EF4-FFF2-40B4-BE49-F238E27FC236}">
                <a16:creationId xmlns:a16="http://schemas.microsoft.com/office/drawing/2014/main" id="{DDF07771-DB04-6D3A-EF21-8073C1443989}"/>
              </a:ext>
            </a:extLst>
          </p:cNvPr>
          <p:cNvSpPr>
            <a:spLocks noGrp="1"/>
          </p:cNvSpPr>
          <p:nvPr>
            <p:ph idx="1"/>
          </p:nvPr>
        </p:nvSpPr>
        <p:spPr>
          <a:xfrm>
            <a:off x="838200" y="1825625"/>
            <a:ext cx="10515600" cy="4351338"/>
          </a:xfrm>
        </p:spPr>
        <p:txBody>
          <a:bodyPr/>
          <a:lstStyle/>
          <a:p>
            <a:r>
              <a:rPr lang="en-GB" b="1" dirty="0"/>
              <a:t>Quantitatively</a:t>
            </a:r>
            <a:r>
              <a:rPr lang="en-GB" dirty="0"/>
              <a:t>  step count and dictionary growth</a:t>
            </a:r>
          </a:p>
          <a:p>
            <a:pPr marL="0" indent="0">
              <a:buNone/>
            </a:pPr>
            <a:endParaRPr lang="en-GB" b="1" dirty="0"/>
          </a:p>
          <a:p>
            <a:r>
              <a:rPr lang="en-GB" b="1" dirty="0"/>
              <a:t>Statistically</a:t>
            </a:r>
            <a:r>
              <a:rPr lang="en-GB" dirty="0"/>
              <a:t>  Shannon entropy captures character-level predictability </a:t>
            </a:r>
            <a:r>
              <a:rPr lang="pt-BR" dirty="0"/>
              <a:t>H = − Σ p(x) × log₂(p(x))</a:t>
            </a:r>
            <a:endParaRPr lang="en-GB" dirty="0"/>
          </a:p>
          <a:p>
            <a:endParaRPr lang="en-GB" dirty="0"/>
          </a:p>
          <a:p>
            <a:r>
              <a:rPr lang="en-GB" b="1" dirty="0"/>
              <a:t>Perceptually</a:t>
            </a:r>
            <a:r>
              <a:rPr lang="en-GB" dirty="0"/>
              <a:t>  how patterned does the string </a:t>
            </a:r>
            <a:r>
              <a:rPr lang="en-GB" i="1" dirty="0"/>
              <a:t>look</a:t>
            </a:r>
            <a:r>
              <a:rPr lang="en-GB" dirty="0"/>
              <a:t> to a student?</a:t>
            </a:r>
          </a:p>
        </p:txBody>
      </p:sp>
    </p:spTree>
    <p:extLst>
      <p:ext uri="{BB962C8B-B14F-4D97-AF65-F5344CB8AC3E}">
        <p14:creationId xmlns:p14="http://schemas.microsoft.com/office/powerpoint/2010/main" val="3191684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BBD849EA-9B15-0F60-7578-1D84A832404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83186288-840E-6CB9-ADBA-9E1B75CCB8C8}"/>
              </a:ext>
            </a:extLst>
          </p:cNvPr>
          <p:cNvSpPr>
            <a:spLocks noGrp="1"/>
          </p:cNvSpPr>
          <p:nvPr>
            <p:ph type="title"/>
          </p:nvPr>
        </p:nvSpPr>
        <p:spPr>
          <a:xfrm>
            <a:off x="7467601" y="779220"/>
            <a:ext cx="3429000" cy="1719072"/>
          </a:xfrm>
        </p:spPr>
        <p:txBody>
          <a:bodyPr anchor="b">
            <a:normAutofit fontScale="90000"/>
          </a:bodyPr>
          <a:lstStyle/>
          <a:p>
            <a:r>
              <a:rPr lang="en-GB" sz="5400" dirty="0"/>
              <a:t>How the Generator Works</a:t>
            </a:r>
          </a:p>
        </p:txBody>
      </p:sp>
      <p:sp>
        <p:nvSpPr>
          <p:cNvPr id="9" name="Content Placeholder 2">
            <a:extLst>
              <a:ext uri="{FF2B5EF4-FFF2-40B4-BE49-F238E27FC236}">
                <a16:creationId xmlns:a16="http://schemas.microsoft.com/office/drawing/2014/main" id="{C72DD830-2F39-73B4-F9EE-FEDD7E47F5AB}"/>
              </a:ext>
            </a:extLst>
          </p:cNvPr>
          <p:cNvSpPr>
            <a:spLocks noGrp="1"/>
          </p:cNvSpPr>
          <p:nvPr>
            <p:ph idx="1"/>
          </p:nvPr>
        </p:nvSpPr>
        <p:spPr>
          <a:xfrm>
            <a:off x="7467601" y="2946908"/>
            <a:ext cx="3429000" cy="3410712"/>
          </a:xfrm>
        </p:spPr>
        <p:txBody>
          <a:bodyPr anchor="t">
            <a:normAutofit/>
          </a:bodyPr>
          <a:lstStyle/>
          <a:p>
            <a:r>
              <a:rPr lang="en-GB" sz="2400" dirty="0"/>
              <a:t>Generate-and-filter loop: sample → streak test → simulate → check targets → accept or retry</a:t>
            </a:r>
          </a:p>
          <a:p>
            <a:r>
              <a:rPr lang="en-GB" sz="2400" dirty="0"/>
              <a:t>Up to 100,000 attempts before fallback</a:t>
            </a:r>
          </a:p>
          <a:p>
            <a:endParaRPr lang="en-GB" sz="2200" dirty="0"/>
          </a:p>
          <a:p>
            <a:endParaRPr lang="en-GB" sz="2200" dirty="0"/>
          </a:p>
        </p:txBody>
      </p:sp>
      <p:pic>
        <p:nvPicPr>
          <p:cNvPr id="3" name="Picture 2">
            <a:extLst>
              <a:ext uri="{FF2B5EF4-FFF2-40B4-BE49-F238E27FC236}">
                <a16:creationId xmlns:a16="http://schemas.microsoft.com/office/drawing/2014/main" id="{C90BFC1C-04DF-012B-6A17-B395917B3425}"/>
              </a:ext>
            </a:extLst>
          </p:cNvPr>
          <p:cNvPicPr>
            <a:picLocks noChangeAspect="1"/>
          </p:cNvPicPr>
          <p:nvPr/>
        </p:nvPicPr>
        <p:blipFill>
          <a:blip r:embed="rId3"/>
          <a:stretch>
            <a:fillRect/>
          </a:stretch>
        </p:blipFill>
        <p:spPr>
          <a:xfrm>
            <a:off x="741550" y="350332"/>
            <a:ext cx="5795364" cy="5836466"/>
          </a:xfrm>
          <a:prstGeom prst="rect">
            <a:avLst/>
          </a:prstGeom>
        </p:spPr>
      </p:pic>
    </p:spTree>
    <p:extLst>
      <p:ext uri="{BB962C8B-B14F-4D97-AF65-F5344CB8AC3E}">
        <p14:creationId xmlns:p14="http://schemas.microsoft.com/office/powerpoint/2010/main" val="1198198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D308F722-D2CA-6898-8764-D9C556F0D50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2698253-A3CA-EA9C-AE60-5489D8460ED3}"/>
              </a:ext>
            </a:extLst>
          </p:cNvPr>
          <p:cNvSpPr>
            <a:spLocks noGrp="1"/>
          </p:cNvSpPr>
          <p:nvPr>
            <p:ph type="title"/>
          </p:nvPr>
        </p:nvSpPr>
        <p:spPr>
          <a:xfrm>
            <a:off x="630936" y="457200"/>
            <a:ext cx="4343400" cy="1929384"/>
          </a:xfrm>
        </p:spPr>
        <p:txBody>
          <a:bodyPr anchor="ctr">
            <a:normAutofit/>
          </a:bodyPr>
          <a:lstStyle/>
          <a:p>
            <a:r>
              <a:rPr lang="en-GB" sz="4800" dirty="0"/>
              <a:t>Output</a:t>
            </a:r>
          </a:p>
        </p:txBody>
      </p:sp>
      <p:sp>
        <p:nvSpPr>
          <p:cNvPr id="9" name="Content Placeholder 2">
            <a:extLst>
              <a:ext uri="{FF2B5EF4-FFF2-40B4-BE49-F238E27FC236}">
                <a16:creationId xmlns:a16="http://schemas.microsoft.com/office/drawing/2014/main" id="{2716FE55-6D17-F1FE-4F12-61E48F47D476}"/>
              </a:ext>
            </a:extLst>
          </p:cNvPr>
          <p:cNvSpPr>
            <a:spLocks noGrp="1"/>
          </p:cNvSpPr>
          <p:nvPr>
            <p:ph idx="1"/>
          </p:nvPr>
        </p:nvSpPr>
        <p:spPr>
          <a:xfrm>
            <a:off x="3321948" y="363474"/>
            <a:ext cx="6533251" cy="1929384"/>
          </a:xfrm>
        </p:spPr>
        <p:txBody>
          <a:bodyPr anchor="ctr">
            <a:normAutofit fontScale="85000" lnSpcReduction="20000"/>
          </a:bodyPr>
          <a:lstStyle/>
          <a:p>
            <a:r>
              <a:rPr lang="en-GB" sz="2400" dirty="0"/>
              <a:t>Two exercise types: compression and decompression</a:t>
            </a:r>
          </a:p>
          <a:p>
            <a:r>
              <a:rPr lang="en-GB" sz="2400" dirty="0"/>
              <a:t>Two difficulty profiles: high entropy and low entropy</a:t>
            </a:r>
          </a:p>
          <a:p>
            <a:r>
              <a:rPr lang="en-GB" sz="2400" dirty="0"/>
              <a:t>LaTeX output to slot into existing class test paper workflow</a:t>
            </a:r>
          </a:p>
          <a:p>
            <a:r>
              <a:rPr lang="en-GB" sz="2400" dirty="0"/>
              <a:t>First row pre-filled as worked example</a:t>
            </a:r>
          </a:p>
          <a:p>
            <a:r>
              <a:rPr lang="en-GB" sz="2400" dirty="0"/>
              <a:t>Extra blank rows conceal true step count</a:t>
            </a:r>
            <a:endParaRPr lang="en-GB" sz="2200" dirty="0"/>
          </a:p>
        </p:txBody>
      </p:sp>
      <p:pic>
        <p:nvPicPr>
          <p:cNvPr id="10" name="Picture 9">
            <a:extLst>
              <a:ext uri="{FF2B5EF4-FFF2-40B4-BE49-F238E27FC236}">
                <a16:creationId xmlns:a16="http://schemas.microsoft.com/office/drawing/2014/main" id="{A148A614-0A6D-A6D2-EDCF-228E29D763BC}"/>
              </a:ext>
            </a:extLst>
          </p:cNvPr>
          <p:cNvPicPr>
            <a:picLocks noChangeAspect="1"/>
          </p:cNvPicPr>
          <p:nvPr/>
        </p:nvPicPr>
        <p:blipFill>
          <a:blip r:embed="rId3"/>
          <a:stretch>
            <a:fillRect/>
          </a:stretch>
        </p:blipFill>
        <p:spPr>
          <a:xfrm>
            <a:off x="831323" y="2386583"/>
            <a:ext cx="4431830" cy="4420750"/>
          </a:xfrm>
          <a:prstGeom prst="rect">
            <a:avLst/>
          </a:prstGeom>
        </p:spPr>
      </p:pic>
      <p:pic>
        <p:nvPicPr>
          <p:cNvPr id="11" name="Picture 10">
            <a:extLst>
              <a:ext uri="{FF2B5EF4-FFF2-40B4-BE49-F238E27FC236}">
                <a16:creationId xmlns:a16="http://schemas.microsoft.com/office/drawing/2014/main" id="{46A0C2C0-9296-E4E0-6E75-64C2E48AD6FC}"/>
              </a:ext>
            </a:extLst>
          </p:cNvPr>
          <p:cNvPicPr>
            <a:picLocks noChangeAspect="1"/>
          </p:cNvPicPr>
          <p:nvPr/>
        </p:nvPicPr>
        <p:blipFill>
          <a:blip r:embed="rId4"/>
          <a:stretch>
            <a:fillRect/>
          </a:stretch>
        </p:blipFill>
        <p:spPr>
          <a:xfrm>
            <a:off x="6094476" y="2386584"/>
            <a:ext cx="5440922" cy="4420749"/>
          </a:xfrm>
          <a:prstGeom prst="rect">
            <a:avLst/>
          </a:prstGeom>
        </p:spPr>
      </p:pic>
    </p:spTree>
    <p:extLst>
      <p:ext uri="{BB962C8B-B14F-4D97-AF65-F5344CB8AC3E}">
        <p14:creationId xmlns:p14="http://schemas.microsoft.com/office/powerpoint/2010/main" val="2393972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2E9D4B97-50AF-2B7C-09D2-AF6484FDAC9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5A3A226-46AD-37D8-1A10-D96565003377}"/>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GB" dirty="0"/>
              <a:t>Evaluating the Solution - Quantitative</a:t>
            </a:r>
            <a:endParaRPr kumimoji="0" lang="en-GB" sz="4400" b="0" i="0" u="none" strike="noStrike" kern="1200" cap="none" spc="0" normalizeH="0" baseline="0" noProof="0" dirty="0">
              <a:ln>
                <a:noFill/>
              </a:ln>
              <a:solidFill>
                <a:srgbClr val="14425D"/>
              </a:solidFill>
              <a:effectLst/>
              <a:uLnTx/>
              <a:uFillTx/>
              <a:latin typeface="Aptos Display" panose="02110004020202020204"/>
              <a:ea typeface="+mj-ea"/>
              <a:cs typeface="+mj-cs"/>
            </a:endParaRPr>
          </a:p>
        </p:txBody>
      </p:sp>
      <p:pic>
        <p:nvPicPr>
          <p:cNvPr id="15364" name="Picture 4">
            <a:extLst>
              <a:ext uri="{FF2B5EF4-FFF2-40B4-BE49-F238E27FC236}">
                <a16:creationId xmlns:a16="http://schemas.microsoft.com/office/drawing/2014/main" id="{84AA8A45-5628-D2EF-DA1A-BD778F0904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0814" y="2051049"/>
            <a:ext cx="4933950" cy="36957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A35210A-B62B-7436-85AD-BEF050F2C7AB}"/>
              </a:ext>
            </a:extLst>
          </p:cNvPr>
          <p:cNvPicPr>
            <a:picLocks noChangeAspect="1"/>
          </p:cNvPicPr>
          <p:nvPr/>
        </p:nvPicPr>
        <p:blipFill>
          <a:blip r:embed="rId4"/>
          <a:stretch>
            <a:fillRect/>
          </a:stretch>
        </p:blipFill>
        <p:spPr>
          <a:xfrm>
            <a:off x="838200" y="2130017"/>
            <a:ext cx="5130961" cy="3537764"/>
          </a:xfrm>
          <a:prstGeom prst="rect">
            <a:avLst/>
          </a:prstGeom>
        </p:spPr>
      </p:pic>
    </p:spTree>
    <p:extLst>
      <p:ext uri="{BB962C8B-B14F-4D97-AF65-F5344CB8AC3E}">
        <p14:creationId xmlns:p14="http://schemas.microsoft.com/office/powerpoint/2010/main" val="759978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910F40FE-274D-FD45-19C3-09CAE4B80CD8}"/>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F27F04E-24A7-1163-506C-DD1603542FB5}"/>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400" b="0" i="0" u="none" strike="noStrike" kern="1200" cap="none" spc="0" normalizeH="0" baseline="0" noProof="0" dirty="0">
                <a:ln>
                  <a:noFill/>
                </a:ln>
                <a:solidFill>
                  <a:srgbClr val="14425D"/>
                </a:solidFill>
                <a:effectLst/>
                <a:uLnTx/>
                <a:uFillTx/>
                <a:latin typeface="Aptos Display" panose="02110004020202020204"/>
                <a:ea typeface="+mj-ea"/>
                <a:cs typeface="+mj-cs"/>
              </a:rPr>
              <a:t>Evaluating the </a:t>
            </a:r>
            <a:r>
              <a:rPr lang="en-GB">
                <a:solidFill>
                  <a:srgbClr val="14425D"/>
                </a:solidFill>
                <a:latin typeface="Aptos Display" panose="02110004020202020204"/>
              </a:rPr>
              <a:t>Solution</a:t>
            </a:r>
            <a:r>
              <a:rPr kumimoji="0" lang="en-GB" sz="4400" b="0" i="0" u="none" strike="noStrike" kern="1200" cap="none" spc="0" normalizeH="0" baseline="0" noProof="0">
                <a:ln>
                  <a:noFill/>
                </a:ln>
                <a:solidFill>
                  <a:srgbClr val="14425D"/>
                </a:solidFill>
                <a:effectLst/>
                <a:uLnTx/>
                <a:uFillTx/>
                <a:latin typeface="Aptos Display" panose="02110004020202020204"/>
                <a:ea typeface="+mj-ea"/>
                <a:cs typeface="+mj-cs"/>
              </a:rPr>
              <a:t> </a:t>
            </a:r>
            <a:r>
              <a:rPr kumimoji="0" lang="en-GB" sz="4400" b="0" i="0" u="none" strike="noStrike" kern="1200" cap="none" spc="0" normalizeH="0" baseline="0" noProof="0" dirty="0">
                <a:ln>
                  <a:noFill/>
                </a:ln>
                <a:solidFill>
                  <a:srgbClr val="14425D"/>
                </a:solidFill>
                <a:effectLst/>
                <a:uLnTx/>
                <a:uFillTx/>
                <a:latin typeface="Aptos Display" panose="02110004020202020204"/>
                <a:ea typeface="+mj-ea"/>
                <a:cs typeface="+mj-cs"/>
              </a:rPr>
              <a:t>- Qualitative</a:t>
            </a:r>
          </a:p>
        </p:txBody>
      </p:sp>
      <p:pic>
        <p:nvPicPr>
          <p:cNvPr id="3" name="Picture 2">
            <a:extLst>
              <a:ext uri="{FF2B5EF4-FFF2-40B4-BE49-F238E27FC236}">
                <a16:creationId xmlns:a16="http://schemas.microsoft.com/office/drawing/2014/main" id="{345313C5-D7A2-B98E-AD35-99E7CBA1B938}"/>
              </a:ext>
            </a:extLst>
          </p:cNvPr>
          <p:cNvPicPr>
            <a:picLocks noChangeAspect="1"/>
          </p:cNvPicPr>
          <p:nvPr/>
        </p:nvPicPr>
        <p:blipFill>
          <a:blip r:embed="rId3"/>
          <a:stretch>
            <a:fillRect/>
          </a:stretch>
        </p:blipFill>
        <p:spPr>
          <a:xfrm>
            <a:off x="2763663" y="3732080"/>
            <a:ext cx="6664673" cy="1937199"/>
          </a:xfrm>
          <a:prstGeom prst="rect">
            <a:avLst/>
          </a:prstGeom>
        </p:spPr>
      </p:pic>
      <p:sp>
        <p:nvSpPr>
          <p:cNvPr id="5" name="Content Placeholder 2">
            <a:extLst>
              <a:ext uri="{FF2B5EF4-FFF2-40B4-BE49-F238E27FC236}">
                <a16:creationId xmlns:a16="http://schemas.microsoft.com/office/drawing/2014/main" id="{9A918219-EA1C-7FCF-AB5D-9721223700F7}"/>
              </a:ext>
            </a:extLst>
          </p:cNvPr>
          <p:cNvSpPr>
            <a:spLocks noGrp="1"/>
          </p:cNvSpPr>
          <p:nvPr>
            <p:ph idx="1"/>
          </p:nvPr>
        </p:nvSpPr>
        <p:spPr>
          <a:xfrm>
            <a:off x="1023248" y="1466401"/>
            <a:ext cx="10330552" cy="2265679"/>
          </a:xfrm>
        </p:spPr>
        <p:txBody>
          <a:bodyPr anchor="ctr">
            <a:normAutofit/>
          </a:bodyPr>
          <a:lstStyle/>
          <a:p>
            <a:pPr marL="0" indent="0">
              <a:spcAft>
                <a:spcPts val="600"/>
              </a:spcAft>
              <a:buNone/>
            </a:pPr>
            <a:r>
              <a:rPr lang="en-GB" sz="2400" dirty="0"/>
              <a:t>The question generator was tested the following ways:</a:t>
            </a:r>
          </a:p>
          <a:p>
            <a:pPr>
              <a:spcAft>
                <a:spcPts val="600"/>
              </a:spcAft>
            </a:pPr>
            <a:r>
              <a:rPr lang="en-GB" sz="2400" dirty="0"/>
              <a:t>Peer usability test confirmed that the question generator was intuitive to use and that difficulty metrics led to fairer difficulty generation</a:t>
            </a:r>
          </a:p>
          <a:p>
            <a:r>
              <a:rPr lang="en-GB" sz="2400" dirty="0"/>
              <a:t>Algorithms course class test conducted using generated questions. Results from student post-test survey shown below: </a:t>
            </a:r>
          </a:p>
        </p:txBody>
      </p:sp>
    </p:spTree>
    <p:extLst>
      <p:ext uri="{BB962C8B-B14F-4D97-AF65-F5344CB8AC3E}">
        <p14:creationId xmlns:p14="http://schemas.microsoft.com/office/powerpoint/2010/main" val="1805860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1FB3D78D-5141-1DD6-5F04-3BA71A52822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C9E841A-F2DB-23F2-DE61-12FCDAE6AF28}"/>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GB" dirty="0"/>
              <a:t>Outcomes &amp; Possible Future Developments</a:t>
            </a:r>
            <a:endParaRPr kumimoji="0" lang="en-GB" sz="4400" b="0" i="0" u="none" strike="noStrike" kern="1200" cap="none" spc="0" normalizeH="0" baseline="0" noProof="0" dirty="0">
              <a:ln>
                <a:noFill/>
              </a:ln>
              <a:solidFill>
                <a:srgbClr val="14425D"/>
              </a:solidFill>
              <a:effectLst/>
              <a:uLnTx/>
              <a:uFillTx/>
              <a:latin typeface="Aptos Display" panose="02110004020202020204"/>
              <a:ea typeface="+mj-ea"/>
              <a:cs typeface="+mj-cs"/>
            </a:endParaRPr>
          </a:p>
        </p:txBody>
      </p:sp>
      <p:sp>
        <p:nvSpPr>
          <p:cNvPr id="9" name="Content Placeholder 2">
            <a:extLst>
              <a:ext uri="{FF2B5EF4-FFF2-40B4-BE49-F238E27FC236}">
                <a16:creationId xmlns:a16="http://schemas.microsoft.com/office/drawing/2014/main" id="{ADD9E211-EADA-8B82-3CBE-B784CE927126}"/>
              </a:ext>
            </a:extLst>
          </p:cNvPr>
          <p:cNvSpPr>
            <a:spLocks noGrp="1"/>
          </p:cNvSpPr>
          <p:nvPr>
            <p:ph idx="1"/>
          </p:nvPr>
        </p:nvSpPr>
        <p:spPr>
          <a:xfrm>
            <a:off x="838200" y="1690688"/>
            <a:ext cx="10515600" cy="4351338"/>
          </a:xfrm>
        </p:spPr>
        <p:txBody>
          <a:bodyPr>
            <a:normAutofit fontScale="92500" lnSpcReduction="10000"/>
          </a:bodyPr>
          <a:lstStyle/>
          <a:p>
            <a:pPr marL="0" indent="0">
              <a:buNone/>
            </a:pPr>
            <a:r>
              <a:rPr lang="en-GB" b="1" dirty="0"/>
              <a:t>Achieved Outcomes</a:t>
            </a:r>
          </a:p>
          <a:p>
            <a:r>
              <a:rPr lang="en-GB" dirty="0"/>
              <a:t>Generates unique LZW compression and decompression exercises</a:t>
            </a:r>
          </a:p>
          <a:p>
            <a:r>
              <a:rPr lang="en-GB" dirty="0"/>
              <a:t>LaTeX output fit for use in class tests</a:t>
            </a:r>
          </a:p>
          <a:p>
            <a:r>
              <a:rPr lang="en-GB" dirty="0"/>
              <a:t>Students rated exercises as clear, fair, and comparable to class examples </a:t>
            </a:r>
          </a:p>
          <a:p>
            <a:pPr marL="0" indent="0">
              <a:buNone/>
            </a:pPr>
            <a:endParaRPr lang="en-GB" b="1" dirty="0"/>
          </a:p>
          <a:p>
            <a:pPr marL="0" indent="0">
              <a:buNone/>
            </a:pPr>
            <a:r>
              <a:rPr lang="en-GB" b="1" dirty="0"/>
              <a:t>Possible Future Developments</a:t>
            </a:r>
          </a:p>
          <a:p>
            <a:r>
              <a:rPr lang="en-GB" dirty="0"/>
              <a:t>Huffman coding support: similar table-based structure, where the approach can be adapted</a:t>
            </a:r>
          </a:p>
          <a:p>
            <a:r>
              <a:rPr lang="en-GB" dirty="0"/>
              <a:t>Student practice tool to generate personalised revision exercises</a:t>
            </a:r>
          </a:p>
        </p:txBody>
      </p:sp>
    </p:spTree>
    <p:extLst>
      <p:ext uri="{BB962C8B-B14F-4D97-AF65-F5344CB8AC3E}">
        <p14:creationId xmlns:p14="http://schemas.microsoft.com/office/powerpoint/2010/main" val="1894525016"/>
      </p:ext>
    </p:extLst>
  </p:cSld>
  <p:clrMapOvr>
    <a:masterClrMapping/>
  </p:clrMapOvr>
</p:sld>
</file>

<file path=ppt/theme/theme1.xml><?xml version="1.0" encoding="utf-8"?>
<a:theme xmlns:a="http://schemas.openxmlformats.org/drawingml/2006/main" name="1_Office Theme">
  <a:themeElements>
    <a:clrScheme name="Custom 8">
      <a:dk1>
        <a:srgbClr val="14425D"/>
      </a:dk1>
      <a:lt1>
        <a:srgbClr val="FFCC00"/>
      </a:lt1>
      <a:dk2>
        <a:srgbClr val="14425D"/>
      </a:dk2>
      <a:lt2>
        <a:srgbClr val="4EA5D8"/>
      </a:lt2>
      <a:accent1>
        <a:srgbClr val="969696"/>
      </a:accent1>
      <a:accent2>
        <a:srgbClr val="14425D"/>
      </a:accent2>
      <a:accent3>
        <a:srgbClr val="FFCC00"/>
      </a:accent3>
      <a:accent4>
        <a:srgbClr val="FFCC00"/>
      </a:accent4>
      <a:accent5>
        <a:srgbClr val="FFCC00"/>
      </a:accent5>
      <a:accent6>
        <a:srgbClr val="14425D"/>
      </a:accent6>
      <a:hlink>
        <a:srgbClr val="FFCC00"/>
      </a:hlink>
      <a:folHlink>
        <a:srgbClr val="969696"/>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2450</TotalTime>
  <Words>672</Words>
  <Application>Microsoft Office PowerPoint</Application>
  <PresentationFormat>Widescreen</PresentationFormat>
  <Paragraphs>89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1_Office Theme</vt:lpstr>
      <vt:lpstr>PowerPoint Presentation</vt:lpstr>
      <vt:lpstr>The Problem</vt:lpstr>
      <vt:lpstr>LZW algorithm</vt:lpstr>
      <vt:lpstr>Controlling Difficulty</vt:lpstr>
      <vt:lpstr>How the Generator Works</vt:lpstr>
      <vt:lpstr>Output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King</dc:creator>
  <cp:lastModifiedBy>Andrew King</cp:lastModifiedBy>
  <cp:revision>1</cp:revision>
  <dcterms:created xsi:type="dcterms:W3CDTF">2026-03-18T11:17:05Z</dcterms:created>
  <dcterms:modified xsi:type="dcterms:W3CDTF">2026-03-20T14:48:22Z</dcterms:modified>
</cp:coreProperties>
</file>